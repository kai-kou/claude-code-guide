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B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Hiragino Sans"/>
              </a:rPr>
              <a:t>Claude Code 利用ガイド
&amp; ベストプラクティス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18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0">
                <a:solidFill>
                  <a:srgbClr val="CCDDEE"/>
                </a:solidFill>
                <a:latin typeface="Hiragino Sans"/>
              </a:rPr>
              <a:t>Claude Code初心者〜中級者向け | 2026年2月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このガイドで学べること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D5B8A"/>
                </a:solidFill>
                <a:latin typeface="Hiragino San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371600"/>
            <a:ext cx="9631375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333333"/>
                </a:solidFill>
                <a:latin typeface="Hiragino Sans"/>
              </a:rPr>
              <a:t>Claude Code の基本と始め方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D5B8A"/>
                </a:solidFill>
                <a:latin typeface="Hiragino San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28800"/>
            <a:ext cx="9631375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333333"/>
                </a:solidFill>
                <a:latin typeface="Hiragino Sans"/>
              </a:rPr>
              <a:t>CLAUDE.md — AIへの指示書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D5B8A"/>
                </a:solidFill>
                <a:latin typeface="Hiragino San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86000"/>
            <a:ext cx="9631375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333333"/>
                </a:solidFill>
                <a:latin typeface="Hiragino Sans"/>
              </a:rPr>
              <a:t>権限設定とセキュリティ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D5B8A"/>
                </a:solidFill>
                <a:latin typeface="Hiragino San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743200"/>
            <a:ext cx="9631375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333333"/>
                </a:solidFill>
                <a:latin typeface="Hiragino Sans"/>
              </a:rPr>
              <a:t>Hooks — 自動化の要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D5B8A"/>
                </a:solidFill>
                <a:latin typeface="Hiragino San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200400"/>
            <a:ext cx="9631375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333333"/>
                </a:solidFill>
                <a:latin typeface="Hiragino Sans"/>
              </a:rPr>
              <a:t>コンテキスト管理とステータスライン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5760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D5B8A"/>
                </a:solidFill>
                <a:latin typeface="Hiragino San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57600"/>
            <a:ext cx="9631375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333333"/>
                </a:solidFill>
                <a:latin typeface="Hiragino Sans"/>
              </a:rPr>
              <a:t>利用制限の把握と対策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11480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D5B8A"/>
                </a:solidFill>
                <a:latin typeface="Hiragino Sans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114800"/>
            <a:ext cx="9631375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333333"/>
                </a:solidFill>
                <a:latin typeface="Hiragino Sans"/>
              </a:rPr>
              <a:t>MCP サーバー連携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7200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D5B8A"/>
                </a:solidFill>
                <a:latin typeface="Hiragino Sans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72000"/>
            <a:ext cx="9631375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333333"/>
                </a:solidFill>
                <a:latin typeface="Hiragino Sans"/>
              </a:rPr>
              <a:t>カスタムスキル &amp; エージェント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029200"/>
            <a:ext cx="548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D5B8A"/>
                </a:solidFill>
                <a:latin typeface="Hiragino Sans"/>
              </a:rP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29200"/>
            <a:ext cx="9631375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333333"/>
                </a:solidFill>
                <a:latin typeface="Hiragino Sans"/>
              </a:rPr>
              <a:t>Cursorからの移行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B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0">
                <a:solidFill>
                  <a:srgbClr val="AABBCC"/>
                </a:solidFill>
                <a:latin typeface="Hiragino Sans"/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>
                <a:solidFill>
                  <a:srgbClr val="FFFFFF"/>
                </a:solidFill>
                <a:latin typeface="Hiragino Sans"/>
              </a:rPr>
              <a:t>Claude Code 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Claude Code 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Anthropic開発のエージェント型AIコーディングアシスタント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ターミナルで動作し、コードベース全体を理解して自律実行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「ここを直して」ではなく「この機能を実装して」とタスクレベルで指示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ファイル編集・コマンド実行・外部ツール連携まで一貫して実行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Cursor vs Claude Code — 設計思想の違い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結論: 両方を併用するのが最も効率的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Cursor: IDE-first。リアルタイムTab補完、インライン編集が強力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Claude Code: Agent-first。大規模リファクタ、MCP連携、Hooks自動化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Cursor → ユーザーが操縦しAIがアシスト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Claude Code → タスクを委譲しAIが自律実行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3つのモデルと使い分け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Opus 4.6 (claude-opus-4-6): 最高性能。アーキテクチャ判断、難解なデバッグ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Sonnet 4.6 (claude-sonnet-4-6): 速度と知性のバランス。日常コーディング推奨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Haiku 4.5 (claude-haiku-4-5): 最速・軽量。大量ファイル処理、コスト節約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セッション中に /model コマンドで切り替え可能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B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0">
                <a:solidFill>
                  <a:srgbClr val="AABBCC"/>
                </a:solidFill>
                <a:latin typeface="Hiragino Sans"/>
              </a:rP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>
                <a:solidFill>
                  <a:srgbClr val="FFFFFF"/>
                </a:solidFill>
                <a:latin typeface="Hiragino Sans"/>
              </a:rPr>
              <a:t>セットアップ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インストールと認証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推奨: curl -fsSL https://claude.ai/install.sh | bash（自動更新あり）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その他: brew install --cask claude-code（手動更新）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要件: macOS 13+ / Windows 10+ / Ubuntu 20.04+、4GB RAM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アカウント: Claude Pro / Max / Teams / Enterprise（無料プラン非対応）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初回起動: cd your-project → claude → ブラウザで認証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VSCode拡張のセットアップ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拡張機能で「Claude Code」を検索してインストール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セカンダリサイドバーに配置（右クリック → Move to Secondary Side Bar）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Cmd+Opt+B でサイドバー表示切替、Ctrl+Esc でチャット起動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レイアウト: ファイルツリー(左) | エディタ(中央) | Claude Code(右)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tmux + ctコマンドで強力なワークフロー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ctコマンド: tmux + Claude Code の統合ラッパー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セッション永続化（SSH切断しても継続）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--dangerously-skip-permissions を自動付与（サンドボックス併用必須）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Agent Teamsの各エージェントをSplit Panesで並列表示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ct "タスクの説明" でプロンプト付き起動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/init でプロジェクト設定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/init: プロジェクト構造を分析してCLAUDE.mdを自動生成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よく使うコマンド: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/model — モデル切替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/plan — Plan Mode（計画確認）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/compact — コンテキスト圧縮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/clear — 会話リセット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B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0">
                <a:solidFill>
                  <a:srgbClr val="AABBCC"/>
                </a:solidFill>
                <a:latin typeface="Hiragino Sans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>
                <a:solidFill>
                  <a:srgbClr val="FFFFFF"/>
                </a:solidFill>
                <a:latin typeface="Hiragino Sans"/>
              </a:rPr>
              <a:t>CLAUDE.md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CLAUDE.md — AIへの永続的な指示書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プロジェクトのルール・規約をAIに伝える設定ファイル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Cursorの .cursorrules に相当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セッション開始時に自動的に読み込まれる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プロジェクト固有のルールをMarkdownで記述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CLAUDE.md の3層自動マージ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Level 1: ~/.claude/CLAUDE.md（グローバル・全PJ共通）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Level 2: ~/dev/CLAUDE.md（ワークスペース・PJ横断）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Level 3: project/CLAUDE.md（プロジェクト固有）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3つが自動的にマージされて読み込まれる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グローバル: Git操作ルール / WS: デグレ防止 / PJ: 技術スタック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CLAUDE.md のベストプラクティス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300行以内、150〜200指示が限界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「削除したらClaudeが間違いを犯すか？」テストで不要ルールを削減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@importで分割: @docs/git-instructions.md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簡潔に: 「TypeScript strict mode必須、any禁止」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具体例を含める（ディレクトリ構造、コード例）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優先度を明示: 「最重要ルール（必須）」「推奨ルール」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実例: シェル演算子禁止ルール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Allowリストのパターンマッチが &amp;&amp; や | を含むコマンドに効かない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ルール: 1コマンド = 1回のBashツール呼び出し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NG: mkdir -p /path &amp;&amp; cd /path &amp;&amp; git init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OK: mkdir -p /path → git init を順次実行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cat file | grep → Grepツールを使用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echo "text" &gt; file → Writeツールを使用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CursorとClaude Codeの共存設定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CLAUDE.md を Source of Truth として管理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.cursorrules → CLAUDE.md へのsymlink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setup-coexistence.sh で一括設定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.cursor/rules → .claude/rules からの参照も可能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両方のツールで同じプロジェクトルールを共有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B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0">
                <a:solidFill>
                  <a:srgbClr val="AABBCC"/>
                </a:solidFill>
                <a:latin typeface="Hiragino Sans"/>
              </a:rP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>
                <a:solidFill>
                  <a:srgbClr val="FFFFFF"/>
                </a:solidFill>
                <a:latin typeface="Hiragino Sans"/>
              </a:rPr>
              <a:t>権限とセキュリティ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4つの権限モード（defaultMode）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ask: すべて確認。セキュリティ最優先・初心者向け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auto: Allowリスト一致なら自動実行（推奨）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delegate: Claudeが自律判断。上級者向け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plan: 計画全体を表示し一括承認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設定: ~/.claude/settings.json の permissions.defaultMode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Allow/Deny リスト — パターンマッチ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Allow: Bash(git *)、Bash(npm *)、WebSearch 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Deny: Bash(rm -rf /)、Bash(sudo *) — Allowより優先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パターン: * で任意文字列にマッチ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重要: シェル演算子(&amp;&amp;, |, &gt;)を含むコマンドはマッチ不可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MCPツール: mcp__server_name__tool_name 形式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サンドボックス — OSレベルの隔離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ファイル書き込み: ホワイトリスト以外をブロック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ネットワーク: 指定ホスト以外への通信をブロック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設定: sandbox.enabled: true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autoAllowBashIfSandboxed: サンドボックス内なら自動許可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カレントディレクトリ(.)と/tmp/claudeは書き込み許可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--dangerously-skip-permissions の正しい使い方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全ての権限チェックをバイパスするオプション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危険: rm -rf, 機密ファイル読み書き, git push --forceが確認なし実行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使用条件: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1. サンドボックスが有効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2. permissions.deny で危険コマンドをブロック済み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用途: tmux環境などバックグラウンド実行が必要な場合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機密ファイル保護 — 二段構えの防衛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第1防衛線: settings.json の permissions.deny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Edit(.env), Write(credentials.json), Read(secrets.json) 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第2防衛線: protect-sensitive-files.sh Hook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PreToolUse(Edit|Write)で自動チェック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exit 2 でブロック、exit 0 で通過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ブロック対象: .env*, credentials.json, *.pem, *.key, ~/.ssh/*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B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0">
                <a:solidFill>
                  <a:srgbClr val="AABBCC"/>
                </a:solidFill>
                <a:latin typeface="Hiragino Sans"/>
              </a:rP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>
                <a:solidFill>
                  <a:srgbClr val="FFFFFF"/>
                </a:solidFill>
                <a:latin typeface="Hiragino Sans"/>
              </a:rPr>
              <a:t>Hooks — 自動化の要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Hooks — イベント駆動の自動化基盤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Claude Codeのイベントに応じてスクリプトを自動実行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活用例: Slack通知、自動Lint、Push前チェック、コンテキスト復元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settings.json の hooks セクションで定義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command型: bashスクリプト実行（高速・定型処理向き）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matcher: ツール名のフィルタ（正規表現対応）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Hookイベント一覧（主要5つ）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PreToolUse: ツール実行前。検証・ブロック・事前チェック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PostToolUse: ツール実行後。フォーマット・Lint・後処理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Stop: 停止時。完了通知・Slack投稿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Notification: 通知発生時。macOS通知・外部連携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SessionStart: セッション開始時。コンテキスト再注入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他にも9種: UserPromptSubmit, SubagentStop, PreCompact 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実例: Slack連携（slack-feedback.sh）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Stopイベント → Slack投稿 → リアクション待機 → 指示変換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リアクションマッピング: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👍 コミット&amp;プッシュ / 👀 レビュー / 🔁 やり直し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❌ 破棄 / 🚀 テスト / 📝 ドキュメント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段階的待機: 1分→3分→5分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トークン管理: macOS Keychain推奨（環境変数は非推奨）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実例: Lint自動チェック（post-edit-lint.sh）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PostToolUse(Edit|Write) で発火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対応フォーマット: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Markdown: YAMLフロントマター閉じチェック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Shell: bash -n 構文チェック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JSON: jq empty 構文チェック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exit 1 → Claude Codeが自動修正を試みる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実例: Push前チェック（pre-push-check.sh）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PreToolUse(Bash) でgit pushコマンドを検出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チェック項目: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未コミット変更の確認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プッシュ対象コミットの表示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高リスクファイル(.env, .secret, .key)の変更検出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exit code: 0=正常、1=エラー、2=ブロック（ユーザー確認要求）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実例: コンテキスト再注入（compact-reinject.sh）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/compact後の情報ロスを防ぐ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SessionStart(matcher: "compact")で再注入: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プロジェクト名・現在ブランチ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直近5コミット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スプリント情報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未コミット変更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CLAUDE.mdに「圧縮時の保持ルール」を記述するのも有効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B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0">
                <a:solidFill>
                  <a:srgbClr val="AABBCC"/>
                </a:solidFill>
                <a:latin typeface="Hiragino Sans"/>
              </a:rP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>
                <a:solidFill>
                  <a:srgbClr val="FFFFFF"/>
                </a:solidFill>
                <a:latin typeface="Hiragino Sans"/>
              </a:rPr>
              <a:t>コンテキスト管理とステータスライン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コンテキストウィンドウの仕組み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Claudeが「覚えている情報の量」= コンテキストウィンドウ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構成: Input Tokens + Output Tokens + Cache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Cache Write: 新規情報の保存（初回コスト発生）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Cache Read: 保存済み情報の再利用（90%割引）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キャッシュ有効期限: 5分（5分以内の再アクセスで割引適用）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ステータスライン — リアルタイム4行ダッシュボード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settings.json の statusLine 設定で有効化（カスタムスクリプト）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Line 1: プロジェクト | モデル | コンテキスト使用率 | コスト | 時間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Line 2: コンテキスト詳細（現在/最大, W:キャッシュ書込, R:読取）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Line 3: 利用制限（⚡ 5時間使用率 | 📅 7日間使用率 | 🎵 Sonnet | 🎹 Opus）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Line 4: メモリ使用量（CLI | App | VSCode）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/compact の活用とステータスの色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/compact: 情報を圧縮して引き継ぐ。保持すべき情報を指示で明示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コンテキスト使用率の色: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緑(〜60% OK): 安全、作業継続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黄(60-80% WATCH): 注意。/compact検討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赤(80%〜 SWITCH): /compact or /clear 推奨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コンテキスト管理のコツ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タスク完了ごとに /clear（最重要）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大きなファイルは部分読み（offset, limitを指定）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同じファイルを何度も読まない（キャッシュを活用）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CLAUDE.mdやよく使うファイルをセッション序盤で読み込む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60%超えたら /compact を検討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B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0">
                <a:solidFill>
                  <a:srgbClr val="AABBCC"/>
                </a:solidFill>
                <a:latin typeface="Hiragino Sans"/>
              </a:rP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>
                <a:solidFill>
                  <a:srgbClr val="FFFFFF"/>
                </a:solidFill>
                <a:latin typeface="Hiragino Sans"/>
              </a:rPr>
              <a:t>利用制限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利用制限の種類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5時間ローリングウィンドウ: 直近5時間の利用量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7日間制限: 週単位の利用量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モデル別制限: Sonnet/Opus それぞれの7日間制限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プラン別: Pro（標準）、Max 5x（5倍）、Max 20x（20倍）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Cache Writeは制限にカウント、Cache Readは90%割引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制限の確認方法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ステータスライン Line 3 で常時確認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⚡ 5時間制限 + リセットまでの時間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📅 7日間制限 + リセットまでの時間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🎵 Sonnet使用率 / 🎹 Opus使用率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色: 緑(〜70% Safe) / 黄(70-85% Caution) / 赤(85%〜 Danger)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利用制限の最適化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キャッシュヒット率向上: CLAUDE.md・よく使うファイルを先に読む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5分以内の再アクセスでCache Read（90%割引）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Haiku活用: Lint、テスト、検索などの軽作業はHaikuで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専用ツール優先: cat/grepではなくRead/Grepツールを使う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不要なReadを減らす: 一度読んだファイルはキャッシュから再利用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制限に近づいたら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50%超: Haikuモデルに切り替え（/model haiku）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60%超: タスクを分割して複数セッションに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80%超: リセット待ち、緊急性の低いタスクは後回し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モデル切替: /model sonnet / /model opus / /model haiku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セッション分割例: 実装→テスト→ドキュメントを各セッションに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B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0">
                <a:solidFill>
                  <a:srgbClr val="AABBCC"/>
                </a:solidFill>
                <a:latin typeface="Hiragino Sans"/>
              </a:rP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>
                <a:solidFill>
                  <a:srgbClr val="FFFFFF"/>
                </a:solidFill>
                <a:latin typeface="Hiragino Sans"/>
              </a:rPr>
              <a:t>MCP サーバー連携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MCP — 外部ツール連携の標準プロトコル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Model Context Protocol: AIと外部ツールを接続するオープンスタンダード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Slack投稿、GitHub Issue操作、Notion更新を自然言語で実行可能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3つのトランスポート: http（推奨）、stdio（ローカル）、sse（廃止予定）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@メンションで直接参照: @github:issue://123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MCPサーバーの設定方法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HTTPサーバー: claude mcp add --transport http 名前 URL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stdioサーバー: claude mcp add 名前 -- コマンド [引数]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3スコープ: local（個人）、project（チーム共有）、user（全PJ共通）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OAuth 2.0: /mcp コマンドでブラウザ認証、トークンはKeychain保存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管理: claude mcp list / get / remove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おすすめMCPサーバー6選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Slack: メッセージ投稿・検索・リアクション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GitHub: Issue/PR操作・コード検索・レビュー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Sentry: エラー監視・パフォーマンスデータ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Notion: ページ作成・DB操作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Playwright: ブラウザ自動操作・E2Eテスト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Context7: ライブラリ最新ドキュメント参照（AI幻覚防止）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B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0">
                <a:solidFill>
                  <a:srgbClr val="AABBCC"/>
                </a:solidFill>
                <a:latin typeface="Hiragino Sans"/>
              </a:rP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>
                <a:solidFill>
                  <a:srgbClr val="FFFFFF"/>
                </a:solidFill>
                <a:latin typeface="Hiragino Sans"/>
              </a:rPr>
              <a:t>カスタムスキル &amp; エージェント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カスタムスキル — /コマンドで呼べるプロンプト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繰り返し使うワークフローを再利用可能に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例: /review-pr, /deploy-staging, /sprint-start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配置: ~/.claude/skills/ (Personal) / .claude/skills/ (Project)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SKILL.md ファイルで定義（YAMLフロントマター + Markdown）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Agent Skillsオープン標準に準拠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SKILL.md の書き方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フロントマター: name, description, user-invocable, model, context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動的コンテキスト注入: !`gh pr diff` で実行結果を埋め込み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$ARGUMENTS で引数を受け取り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references/ フォルダで補足情報を分離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context: fork で独立コンテキストで実行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カスタムエージェント — 専門家AIサブプロセス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特定タスクに特化した独立サブプロセス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独自のコンテキスト・システムプロンプト・ツール権限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配置: .claude/agents/名前.md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ツール制限: 最小権限の原則（調査用は読み取りのみ等）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組み込み: Explore(Haiku), Plan(継承), general-purpose(全ツール)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Agent Teams — 複数AIの協調（実験的）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Team Lead + Teammates で並列タスク実行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共有タスクリスト + メッセージングで連携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有効化: CLAUDE_CODE_EXPERIMENTAL_AGENT_TEAMS=1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表示: in-process(Shift+Down切替) / split panes(tmux)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制限: 1チームのみ、セッション再開不可、ネスト不可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B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0">
                <a:solidFill>
                  <a:srgbClr val="AABBCC"/>
                </a:solidFill>
                <a:latin typeface="Hiragino Sans"/>
              </a:rP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>
                <a:solidFill>
                  <a:srgbClr val="FFFFFF"/>
                </a:solidFill>
                <a:latin typeface="Hiragino Sans"/>
              </a:rPr>
              <a:t>Cursorからの移行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Cursorからの移行 — 基本ステップ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.cursorrules → CLAUDE.md: 構造化して300行以内に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.cursor/rules → .claude/rules: symlinkで共有可能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settings.json: 権限・Hooks・サンドボックスを設定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setup-coexistence.sh: CLAUDE.mdをSource of Truthに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/init コマンドで初期生成→既存ルールをマージ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タイムリープ戦略 — 完全移行ではなく使い分け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Cursor: リアルタイム補完、単一ファイル編集、インライン修正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Claude Code: 複数ファイルリファクタ、テスト自動生成、外部API連携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実践フロー: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1. Cursor Composer で基本コンポーネント生成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2. Cursor Tab で型定義を高速補完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3. Claude Code で10ファイルのimport一括更新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  4. Claude Code でテスト生成・Git操作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画像の扱い方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Cursor: チャットに貼り付け（一度に1枚、セッション終了で消失）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Claude Code: Read toolでファイルパスを直接指定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ペーストキャッシュ: Cmd+V → /tmp/claude/ に自動保存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画像の永続化: プロジェクト内にコピーしてパス指定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用途: UIモック→コンポーネント生成、エラー画面デバッグ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B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0">
                <a:solidFill>
                  <a:srgbClr val="AABBCC"/>
                </a:solidFill>
                <a:latin typeface="Hiragino Sans"/>
              </a:rP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>
                <a:solidFill>
                  <a:srgbClr val="FFFFFF"/>
                </a:solidFill>
                <a:latin typeface="Hiragino Sans"/>
              </a:rPr>
              <a:t>通知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macOS通知 — terminal-notifier + ccnotify.py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タスク完了時にmacOSネイティブ通知を表示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通知クリックでVSCodeを開く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ccnotify.py: プロンプト記録（SQLite）+ 通知送信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Hookイベント: UserPromptSubmit（記録）、Stop（通知）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Slack連携 — リアクション駆動の遠隔操作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フロー: タスク完了 → Slack投稿 → リアクション待機 → 指示変換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PCから離れてもスマホでリアクション → 次の指示を自動送信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MCP経由: claude mcp add --transport http slack（トークン管理不要）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直接API: slack-feedback.sh + Keychain管理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B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0">
                <a:solidFill>
                  <a:srgbClr val="AABBCC"/>
                </a:solidFill>
                <a:latin typeface="Hiragino Sans"/>
              </a:rPr>
              <a:t>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>
                <a:solidFill>
                  <a:srgbClr val="FFFFFF"/>
                </a:solidFill>
                <a:latin typeface="Hiragino Sans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Claude Code 学習ロードマップ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371600"/>
            <a:ext cx="4572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Hiragino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6400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0">
                <a:solidFill>
                  <a:srgbClr val="333333"/>
                </a:solidFill>
                <a:latin typeface="Hiragino Sans"/>
              </a:rPr>
              <a:t>CLAUDE.md（AIへの指示書）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371600"/>
            <a:ext cx="1828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27AE60"/>
                </a:solidFill>
                <a:latin typeface="Hiragino Sans"/>
              </a:rPr>
              <a:t>初級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874520"/>
            <a:ext cx="4572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20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Hiragino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74520"/>
            <a:ext cx="6400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0">
                <a:solidFill>
                  <a:srgbClr val="333333"/>
                </a:solidFill>
                <a:latin typeface="Hiragino Sans"/>
              </a:rPr>
              <a:t>権限設定（settings.json）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874520"/>
            <a:ext cx="1828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27AE60"/>
                </a:solidFill>
                <a:latin typeface="Hiragino Sans"/>
              </a:rPr>
              <a:t>初級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377440"/>
            <a:ext cx="4572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377440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Hiragino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377440"/>
            <a:ext cx="6400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0">
                <a:solidFill>
                  <a:srgbClr val="333333"/>
                </a:solidFill>
                <a:latin typeface="Hiragino Sans"/>
              </a:rPr>
              <a:t>VSCode / tmux での利用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377440"/>
            <a:ext cx="1828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27AE60"/>
                </a:solidFill>
                <a:latin typeface="Hiragino Sans"/>
              </a:rPr>
              <a:t>初級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2880360"/>
            <a:ext cx="45720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880360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Hiragino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880360"/>
            <a:ext cx="6400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0">
                <a:solidFill>
                  <a:srgbClr val="333333"/>
                </a:solidFill>
                <a:latin typeface="Hiragino Sans"/>
              </a:rPr>
              <a:t>コンテキスト管理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880360"/>
            <a:ext cx="1828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39C12"/>
                </a:solidFill>
                <a:latin typeface="Hiragino Sans"/>
              </a:rPr>
              <a:t>中級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3383280"/>
            <a:ext cx="45720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383280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Hiragino San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383280"/>
            <a:ext cx="6400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0">
                <a:solidFill>
                  <a:srgbClr val="333333"/>
                </a:solidFill>
                <a:latin typeface="Hiragino Sans"/>
              </a:rPr>
              <a:t>Hooks（自動化）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383280"/>
            <a:ext cx="1828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39C12"/>
                </a:solidFill>
                <a:latin typeface="Hiragino Sans"/>
              </a:rPr>
              <a:t>中級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3886200"/>
            <a:ext cx="45720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886200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Hiragino Sa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3886200"/>
            <a:ext cx="6400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0">
                <a:solidFill>
                  <a:srgbClr val="333333"/>
                </a:solidFill>
                <a:latin typeface="Hiragino Sans"/>
              </a:rPr>
              <a:t>MCPサーバー連携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886200"/>
            <a:ext cx="1828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39C12"/>
                </a:solidFill>
                <a:latin typeface="Hiragino Sans"/>
              </a:rPr>
              <a:t>中級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4389120"/>
            <a:ext cx="45720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389120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Hiragino San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4389120"/>
            <a:ext cx="6400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0">
                <a:solidFill>
                  <a:srgbClr val="333333"/>
                </a:solidFill>
                <a:latin typeface="Hiragino Sans"/>
              </a:rPr>
              <a:t>カスタムスキル・エージェント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389120"/>
            <a:ext cx="1828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E74C3C"/>
                </a:solidFill>
                <a:latin typeface="Hiragino Sans"/>
              </a:rPr>
              <a:t>上級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4892040"/>
            <a:ext cx="45720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892040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Hiragino Sans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4892040"/>
            <a:ext cx="6400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0">
                <a:solidFill>
                  <a:srgbClr val="333333"/>
                </a:solidFill>
                <a:latin typeface="Hiragino Sans"/>
              </a:rPr>
              <a:t>Agent Teams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892040"/>
            <a:ext cx="18288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E74C3C"/>
                </a:solidFill>
                <a:latin typeface="Hiragino Sans"/>
              </a:rPr>
              <a:t>上級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今日から実践できるベストプラクティス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1. /clear をタスク完了ごとに実行（コンテキスト管理の基本）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2. Plan Modeで大きなタスクは計画してから実行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3. CLAUDE.mdに検証基準を明記（300行以内・簡潔に）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4. サンドボックスを有効にしてHooksで自動化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5. キャッシュヒット率を上げてコスト・制限を節約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6. MCPで外部ツールと連携して作業範囲を拡大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64008" cy="457200"/>
          </a:xfrm>
          <a:prstGeom prst="rect">
            <a:avLst/>
          </a:prstGeom>
          <a:solidFill>
            <a:srgbClr val="2D5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23240"/>
            <a:ext cx="1054577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5B8A"/>
                </a:solidFill>
                <a:latin typeface="Hiragino Sans"/>
              </a:rPr>
              <a:t>参考リンク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180015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Claude Code 公式: https://code.claude.com/docs/en/overview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セットアップ: https://code.claude.com/docs/en/setup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Hooks: https://code.claude.com/docs/en/hooks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MCP: https://code.claude.com/docs/en/mcp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Skills: https://code.claude.com/docs/en/skills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333333"/>
                </a:solidFill>
                <a:latin typeface="Hiragino Sans"/>
              </a:rPr>
              <a:t>• Agent Teams: https://code.claude.com/docs/en/agent-teams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B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>
                <a:solidFill>
                  <a:srgbClr val="FFFFFF"/>
                </a:solidFill>
                <a:latin typeface="Hiragino Sans"/>
              </a:rPr>
              <a:t>Happy Coding with Claude Code!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0">
                <a:solidFill>
                  <a:srgbClr val="CCDDEE"/>
                </a:solidFill>
                <a:latin typeface="Hiragino Sans"/>
              </a:rPr>
              <a:t>Thank you for attending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